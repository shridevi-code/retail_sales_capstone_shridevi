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D5BCF-E900-0E5F-B552-8AD22346AAAB}" v="816" dt="2025-11-30T16:14:44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5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70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0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394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9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96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0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91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4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2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08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45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4559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48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828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1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833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8031" y="2104846"/>
            <a:ext cx="8216147" cy="2812212"/>
          </a:xfrm>
        </p:spPr>
        <p:txBody>
          <a:bodyPr>
            <a:normAutofit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Retail Sales Insights &amp; Demand Forecasting</a:t>
            </a:r>
            <a:endParaRPr lang="en-US" dirty="0"/>
          </a:p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 </a:t>
            </a:r>
            <a:endParaRPr lang="en-US" dirty="0"/>
          </a:p>
          <a:p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2345" y="4302926"/>
            <a:ext cx="8627852" cy="767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Capstone project</a:t>
            </a:r>
          </a:p>
          <a:p>
            <a:r>
              <a:rPr lang="en-US" sz="2800" dirty="0"/>
              <a:t>Name: Shridevi Kulkarni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CE7C-7845-FCF8-95EA-65CA9A82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906" y="1041054"/>
            <a:ext cx="10033125" cy="73194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ea typeface="+mj-lt"/>
                <a:cs typeface="+mj-lt"/>
              </a:rPr>
              <a:t>Objective</a:t>
            </a:r>
            <a:r>
              <a:rPr lang="en-US" dirty="0">
                <a:ea typeface="+mj-lt"/>
                <a:cs typeface="+mj-lt"/>
              </a:rPr>
              <a:t>:</a:t>
            </a:r>
            <a:endParaRPr lang="en-US" dirty="0"/>
          </a:p>
          <a:p>
            <a:br>
              <a:rPr lang="en-US" sz="2400" dirty="0">
                <a:ea typeface="+mj-lt"/>
                <a:cs typeface="+mj-lt"/>
              </a:rPr>
            </a:br>
            <a:r>
              <a:rPr lang="en-US" sz="2400" dirty="0">
                <a:ea typeface="+mj-lt"/>
                <a:cs typeface="+mj-lt"/>
              </a:rPr>
              <a:t>• Analyze Walmart’s retail sales data</a:t>
            </a:r>
            <a:endParaRPr lang="en-US" sz="2400" dirty="0"/>
          </a:p>
          <a:p>
            <a:r>
              <a:rPr lang="en-US" sz="2400" dirty="0">
                <a:ea typeface="+mj-lt"/>
                <a:cs typeface="+mj-lt"/>
              </a:rPr>
              <a:t>• Identify key patterns and drivers of weekly sales</a:t>
            </a:r>
            <a:endParaRPr lang="en-US" sz="2400"/>
          </a:p>
          <a:p>
            <a:r>
              <a:rPr lang="en-US" sz="2400" dirty="0">
                <a:ea typeface="+mj-lt"/>
                <a:cs typeface="+mj-lt"/>
              </a:rPr>
              <a:t>• Build a predictive model to estimate sales</a:t>
            </a:r>
            <a:endParaRPr lang="en-US" sz="2400"/>
          </a:p>
          <a:p>
            <a:r>
              <a:rPr lang="en-US" sz="2400" dirty="0">
                <a:ea typeface="+mj-lt"/>
                <a:cs typeface="+mj-lt"/>
              </a:rPr>
              <a:t>• Provide business insights and recommendations</a:t>
            </a:r>
            <a:endParaRPr lang="en-US" sz="2400" dirty="0"/>
          </a:p>
          <a:p>
            <a:br>
              <a:rPr lang="en-US" dirty="0">
                <a:ea typeface="+mj-lt"/>
                <a:cs typeface="+mj-lt"/>
              </a:rPr>
            </a:br>
            <a:r>
              <a:rPr lang="en-US" u="sng" dirty="0">
                <a:ea typeface="+mj-lt"/>
                <a:cs typeface="+mj-lt"/>
              </a:rPr>
              <a:t>Business Importance:</a:t>
            </a:r>
            <a:endParaRPr lang="en-US" u="sng"/>
          </a:p>
          <a:p>
            <a:br>
              <a:rPr lang="en-US" sz="2400" dirty="0">
                <a:ea typeface="+mj-lt"/>
                <a:cs typeface="+mj-lt"/>
              </a:rPr>
            </a:br>
            <a:r>
              <a:rPr lang="en-US" sz="2400" dirty="0">
                <a:ea typeface="+mj-lt"/>
                <a:cs typeface="+mj-lt"/>
              </a:rPr>
              <a:t>Better understanding of sales patterns helps optimize:</a:t>
            </a:r>
            <a:endParaRPr lang="en-US" sz="2400" dirty="0"/>
          </a:p>
          <a:p>
            <a:r>
              <a:rPr lang="en-US" sz="2400" dirty="0">
                <a:ea typeface="+mj-lt"/>
                <a:cs typeface="+mj-lt"/>
              </a:rPr>
              <a:t>• Inventory</a:t>
            </a:r>
            <a:endParaRPr lang="en-US" sz="2400"/>
          </a:p>
          <a:p>
            <a:r>
              <a:rPr lang="en-US" sz="2400" dirty="0">
                <a:ea typeface="+mj-lt"/>
                <a:cs typeface="+mj-lt"/>
              </a:rPr>
              <a:t>• Marketing</a:t>
            </a:r>
            <a:endParaRPr lang="en-US" sz="2400"/>
          </a:p>
          <a:p>
            <a:r>
              <a:rPr lang="en-US" sz="2400" dirty="0">
                <a:ea typeface="+mj-lt"/>
                <a:cs typeface="+mj-lt"/>
              </a:rPr>
              <a:t>• Promotions</a:t>
            </a:r>
            <a:endParaRPr lang="en-US" sz="2400"/>
          </a:p>
          <a:p>
            <a:r>
              <a:rPr lang="en-US" sz="2400" dirty="0">
                <a:ea typeface="+mj-lt"/>
                <a:cs typeface="+mj-lt"/>
              </a:rPr>
              <a:t>• Store planning</a:t>
            </a:r>
            <a:endParaRPr lang="en-US" sz="240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AF180-363D-9D27-339F-0F3DC0636BAC}"/>
              </a:ext>
            </a:extLst>
          </p:cNvPr>
          <p:cNvSpPr txBox="1"/>
          <p:nvPr/>
        </p:nvSpPr>
        <p:spPr>
          <a:xfrm>
            <a:off x="3912139" y="246213"/>
            <a:ext cx="56474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u="sng" dirty="0"/>
              <a:t>PROJECT OBJECTIVE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926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691243-BD73-742F-D001-9CD21DD07E23}"/>
              </a:ext>
            </a:extLst>
          </p:cNvPr>
          <p:cNvSpPr txBox="1"/>
          <p:nvPr/>
        </p:nvSpPr>
        <p:spPr>
          <a:xfrm>
            <a:off x="1708211" y="1195416"/>
            <a:ext cx="9328028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ea typeface="+mn-lt"/>
                <a:cs typeface="+mn-lt"/>
              </a:rPr>
              <a:t>Files Used:</a:t>
            </a:r>
            <a:endParaRPr lang="en-US" sz="2800" u="sng"/>
          </a:p>
          <a:p>
            <a:r>
              <a:rPr lang="en-US" sz="2400" dirty="0">
                <a:ea typeface="+mn-lt"/>
                <a:cs typeface="+mn-lt"/>
              </a:rPr>
              <a:t>• train.csv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features.csv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stores.csv</a:t>
            </a:r>
            <a:endParaRPr lang="en-US" sz="2400" dirty="0"/>
          </a:p>
          <a:p>
            <a:endParaRPr lang="en-US" sz="2400" dirty="0"/>
          </a:p>
          <a:p>
            <a:r>
              <a:rPr lang="en-US" sz="2800" u="sng" dirty="0">
                <a:ea typeface="+mn-lt"/>
                <a:cs typeface="+mn-lt"/>
              </a:rPr>
              <a:t>Dataset Summary:</a:t>
            </a:r>
            <a:endParaRPr lang="en-US" sz="2800" u="sng"/>
          </a:p>
          <a:p>
            <a:r>
              <a:rPr lang="en-US" sz="2400" dirty="0">
                <a:ea typeface="+mn-lt"/>
                <a:cs typeface="+mn-lt"/>
              </a:rPr>
              <a:t>• ~421,000 rows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45 stores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81 departments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Variables include weekly sales, holidays, store type, size, fuel price, CPI, unemployment.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Final dataset created by merging all three files.</a:t>
            </a:r>
            <a:endParaRPr lang="en-US" sz="2400" b="1" dirty="0"/>
          </a:p>
          <a:p>
            <a:pPr algn="l"/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FF4CB-8E35-D56D-5B5E-FF8A67DDDCFC}"/>
              </a:ext>
            </a:extLst>
          </p:cNvPr>
          <p:cNvSpPr txBox="1"/>
          <p:nvPr/>
        </p:nvSpPr>
        <p:spPr>
          <a:xfrm>
            <a:off x="4476750" y="162343"/>
            <a:ext cx="42815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45667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FFC9F-CC96-A500-C482-2A188C35F235}"/>
              </a:ext>
            </a:extLst>
          </p:cNvPr>
          <p:cNvSpPr txBox="1"/>
          <p:nvPr/>
        </p:nvSpPr>
        <p:spPr>
          <a:xfrm>
            <a:off x="1467797" y="1474593"/>
            <a:ext cx="8594783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u="sng" dirty="0">
                <a:ea typeface="+mn-lt"/>
                <a:cs typeface="+mn-lt"/>
              </a:rPr>
              <a:t>Steps Performed:</a:t>
            </a:r>
            <a:endParaRPr lang="en-US" sz="3200" u="sng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• Merged train, features, and stores datasets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Converted Date → datetime format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Created Year, Month, Week features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Filled missing values using median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Removed duplicates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Encoded categorical features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Final cleaned dataset ready for EDA &amp; modeling</a:t>
            </a:r>
            <a:endParaRPr lang="en-US" sz="2400" dirty="0"/>
          </a:p>
          <a:p>
            <a:pPr algn="l"/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AECDD-B1E7-71A7-6682-AB243B07FF17}"/>
              </a:ext>
            </a:extLst>
          </p:cNvPr>
          <p:cNvSpPr txBox="1"/>
          <p:nvPr/>
        </p:nvSpPr>
        <p:spPr>
          <a:xfrm>
            <a:off x="3945987" y="246212"/>
            <a:ext cx="52879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/>
              <a:t>DATA CLEANING PROCESS</a:t>
            </a:r>
          </a:p>
        </p:txBody>
      </p:sp>
    </p:spTree>
    <p:extLst>
      <p:ext uri="{BB962C8B-B14F-4D97-AF65-F5344CB8AC3E}">
        <p14:creationId xmlns:p14="http://schemas.microsoft.com/office/powerpoint/2010/main" val="73766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905E4-71F5-FC34-0F1A-83E69E59BF78}"/>
              </a:ext>
            </a:extLst>
          </p:cNvPr>
          <p:cNvSpPr txBox="1"/>
          <p:nvPr/>
        </p:nvSpPr>
        <p:spPr>
          <a:xfrm>
            <a:off x="1549160" y="657764"/>
            <a:ext cx="7315201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•Key Insights:</a:t>
            </a:r>
            <a:endParaRPr lang="en-US" sz="2400" b="1" dirty="0"/>
          </a:p>
          <a:p>
            <a:r>
              <a:rPr lang="en-US" sz="2400" dirty="0">
                <a:ea typeface="+mn-lt"/>
                <a:cs typeface="+mn-lt"/>
              </a:rPr>
              <a:t>• Sales show seasonal patterns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Store Type A has the highest sales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Holidays increase average sales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Department contributions vary widely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• Correlations with external factors are weak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l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0F8E-79E1-264F-8B42-604E368C36D4}"/>
              </a:ext>
            </a:extLst>
          </p:cNvPr>
          <p:cNvSpPr txBox="1"/>
          <p:nvPr/>
        </p:nvSpPr>
        <p:spPr>
          <a:xfrm>
            <a:off x="3827972" y="271072"/>
            <a:ext cx="54461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/>
              <a:t>EXPLORATORY DATA ANALSIS</a:t>
            </a:r>
          </a:p>
        </p:txBody>
      </p:sp>
      <p:pic>
        <p:nvPicPr>
          <p:cNvPr id="4" name="Picture 3" descr="A graph of sales by store type&#10;&#10;AI-generated content may be incorrect.">
            <a:extLst>
              <a:ext uri="{FF2B5EF4-FFF2-40B4-BE49-F238E27FC236}">
                <a16:creationId xmlns:a16="http://schemas.microsoft.com/office/drawing/2014/main" id="{877FB471-C935-EF17-4FC5-925BE324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63" y="3436189"/>
            <a:ext cx="4803638" cy="3263661"/>
          </a:xfrm>
          <a:prstGeom prst="rect">
            <a:avLst/>
          </a:prstGeom>
        </p:spPr>
      </p:pic>
      <p:pic>
        <p:nvPicPr>
          <p:cNvPr id="5" name="Picture 4" descr="A graph of sales by department&#10;&#10;AI-generated content may be incorrect.">
            <a:extLst>
              <a:ext uri="{FF2B5EF4-FFF2-40B4-BE49-F238E27FC236}">
                <a16:creationId xmlns:a16="http://schemas.microsoft.com/office/drawing/2014/main" id="{F8AEC30D-78AE-60E0-03DF-BEA083F1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547" y="3433108"/>
            <a:ext cx="6139132" cy="315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0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sales&#10;&#10;AI-generated content may be incorrect.">
            <a:extLst>
              <a:ext uri="{FF2B5EF4-FFF2-40B4-BE49-F238E27FC236}">
                <a16:creationId xmlns:a16="http://schemas.microsoft.com/office/drawing/2014/main" id="{AD697878-7E6A-ED78-8599-E652465C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07" y="934528"/>
            <a:ext cx="8428444" cy="55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3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4DB3F-896E-0FF4-507E-298C78D254D8}"/>
              </a:ext>
            </a:extLst>
          </p:cNvPr>
          <p:cNvSpPr txBox="1"/>
          <p:nvPr/>
        </p:nvSpPr>
        <p:spPr>
          <a:xfrm>
            <a:off x="2222500" y="100012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CB1C2-326D-3358-5055-B000D6E2BB12}"/>
              </a:ext>
            </a:extLst>
          </p:cNvPr>
          <p:cNvSpPr txBox="1"/>
          <p:nvPr/>
        </p:nvSpPr>
        <p:spPr>
          <a:xfrm>
            <a:off x="1632131" y="398372"/>
            <a:ext cx="11700293" cy="63401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                         </a:t>
            </a:r>
            <a:r>
              <a:rPr lang="en-US" sz="2400" b="1" dirty="0">
                <a:ea typeface="+mn-lt"/>
                <a:cs typeface="+mn-lt"/>
              </a:rPr>
              <a:t>        </a:t>
            </a:r>
            <a:r>
              <a:rPr lang="en-US" sz="2800" b="1" u="sng" dirty="0">
                <a:ea typeface="+mn-lt"/>
                <a:cs typeface="+mn-lt"/>
              </a:rPr>
              <a:t> Statistical Tests (T-Test + ANOVA</a:t>
            </a:r>
            <a:r>
              <a:rPr lang="en-US" sz="2400" b="1" dirty="0">
                <a:ea typeface="+mn-lt"/>
                <a:cs typeface="+mn-lt"/>
              </a:rPr>
              <a:t>)</a:t>
            </a:r>
            <a:endParaRPr lang="en-US" sz="2400" b="1" dirty="0"/>
          </a:p>
          <a:p>
            <a:endParaRPr lang="en-US"/>
          </a:p>
          <a:p>
            <a:r>
              <a:rPr lang="en-US" b="1" dirty="0">
                <a:ea typeface="+mn-lt"/>
                <a:cs typeface="+mn-lt"/>
              </a:rPr>
              <a:t>T-Test: Holiday vs Non-Holiday Weeks</a:t>
            </a:r>
            <a:endParaRPr lang="en-US" b="1"/>
          </a:p>
          <a:p>
            <a:r>
              <a:rPr lang="en-US" dirty="0">
                <a:ea typeface="+mn-lt"/>
                <a:cs typeface="+mn-lt"/>
              </a:rPr>
              <a:t>• Purpose: Check if holidays impact weekly sales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t-statistic: 7.00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p-value: 2.59 × 10⁻¹²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Conclusion: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Holidays significantly increase weekly sales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Reject H₀ → There IS a difference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ANOVA: Sales by Store Type (A, B, C)</a:t>
            </a:r>
            <a:endParaRPr lang="en-US" b="1"/>
          </a:p>
          <a:p>
            <a:r>
              <a:rPr lang="en-US" dirty="0">
                <a:ea typeface="+mn-lt"/>
                <a:cs typeface="+mn-lt"/>
              </a:rPr>
              <a:t>• Purpose: Compare sales performance across store types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F-statistic: 7764.43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p-value: 0.0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Conclusion: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Store Type C &gt; Type A &gt; Type B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Store type has a strong impact on sales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• Reject H₀ → Store types differ significantly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Key Insight:</a:t>
            </a:r>
            <a:endParaRPr lang="en-US" b="1"/>
          </a:p>
          <a:p>
            <a:r>
              <a:rPr lang="en-US" b="1" dirty="0">
                <a:ea typeface="+mn-lt"/>
                <a:cs typeface="+mn-lt"/>
              </a:rPr>
              <a:t>Holiday periods and store type heavily influence weekly sales — statistically proven.</a:t>
            </a:r>
            <a:endParaRPr lang="en-US" b="1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3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9FE94-8C4F-1BEB-1E2C-304BB62C7D9F}"/>
              </a:ext>
            </a:extLst>
          </p:cNvPr>
          <p:cNvSpPr txBox="1"/>
          <p:nvPr/>
        </p:nvSpPr>
        <p:spPr>
          <a:xfrm>
            <a:off x="1617453" y="279460"/>
            <a:ext cx="10104407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                                         </a:t>
            </a:r>
            <a:r>
              <a:rPr lang="en-US" sz="2000" b="1" dirty="0">
                <a:ea typeface="+mn-lt"/>
                <a:cs typeface="+mn-lt"/>
              </a:rPr>
              <a:t>      </a:t>
            </a:r>
            <a:r>
              <a:rPr lang="en-US" sz="2400" b="1" u="sng" dirty="0">
                <a:ea typeface="+mn-lt"/>
                <a:cs typeface="+mn-lt"/>
              </a:rPr>
              <a:t>  MODEL SUMMARY</a:t>
            </a:r>
            <a:endParaRPr lang="en-US" sz="2400" b="1" u="sng"/>
          </a:p>
          <a:p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Model Used: </a:t>
            </a:r>
            <a:r>
              <a:rPr lang="en-US" sz="2000" b="1" dirty="0">
                <a:ea typeface="+mn-lt"/>
                <a:cs typeface="+mn-lt"/>
              </a:rPr>
              <a:t>Linear Regression</a:t>
            </a:r>
            <a:endParaRPr lang="en-US" sz="2000" b="1"/>
          </a:p>
          <a:p>
            <a:r>
              <a:rPr lang="en-US" sz="2000" dirty="0">
                <a:ea typeface="+mn-lt"/>
                <a:cs typeface="+mn-lt"/>
              </a:rPr>
              <a:t>Target: </a:t>
            </a:r>
            <a:r>
              <a:rPr lang="en-US" sz="2000" b="1" dirty="0">
                <a:ea typeface="+mn-lt"/>
                <a:cs typeface="+mn-lt"/>
              </a:rPr>
              <a:t>Weekly Sales</a:t>
            </a:r>
            <a:endParaRPr lang="en-US" sz="2000" b="1"/>
          </a:p>
          <a:p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Input Features: Store, Dept, Holiday, Year, Month, Week, Size, Temperature, Fuel Price, CPI, Unemployment, Store Type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Model Performance: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</a:t>
            </a:r>
            <a:r>
              <a:rPr lang="en-US" sz="2000" b="1" dirty="0">
                <a:ea typeface="+mn-lt"/>
                <a:cs typeface="+mn-lt"/>
              </a:rPr>
              <a:t>R² Score: 0.09</a:t>
            </a:r>
            <a:endParaRPr lang="en-US" sz="2000" b="1"/>
          </a:p>
          <a:p>
            <a:r>
              <a:rPr lang="en-US" sz="2000" dirty="0">
                <a:ea typeface="+mn-lt"/>
                <a:cs typeface="+mn-lt"/>
              </a:rPr>
              <a:t>• </a:t>
            </a:r>
            <a:r>
              <a:rPr lang="en-US" sz="2000" b="1" dirty="0">
                <a:ea typeface="+mn-lt"/>
                <a:cs typeface="+mn-lt"/>
              </a:rPr>
              <a:t>MAE: 14,570</a:t>
            </a:r>
            <a:endParaRPr lang="en-US" sz="2000" b="1"/>
          </a:p>
          <a:p>
            <a:r>
              <a:rPr lang="en-US" sz="2000" dirty="0">
                <a:ea typeface="+mn-lt"/>
                <a:cs typeface="+mn-lt"/>
              </a:rPr>
              <a:t>•</a:t>
            </a:r>
            <a:r>
              <a:rPr lang="en-US" sz="2000" b="1" dirty="0">
                <a:ea typeface="+mn-lt"/>
                <a:cs typeface="+mn-lt"/>
              </a:rPr>
              <a:t> RMSE: 21,767</a:t>
            </a:r>
            <a:endParaRPr lang="en-US" sz="2000" b="1"/>
          </a:p>
          <a:p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Interpretation:</a:t>
            </a:r>
            <a:endParaRPr lang="en-US" sz="2000" b="1"/>
          </a:p>
          <a:p>
            <a:r>
              <a:rPr lang="en-US" sz="2000" b="1" dirty="0">
                <a:ea typeface="+mn-lt"/>
                <a:cs typeface="+mn-lt"/>
              </a:rPr>
              <a:t>Retail sales are highly variable due to promotions/events not in the dataset → so low R² is expected.</a:t>
            </a:r>
            <a:endParaRPr lang="en-US" sz="2000" b="1"/>
          </a:p>
          <a:p>
            <a:r>
              <a:rPr lang="en-US" sz="2000" b="1" dirty="0">
                <a:ea typeface="+mn-lt"/>
                <a:cs typeface="+mn-lt"/>
              </a:rPr>
              <a:t>But the model is still useful for identifying key sales drivers.</a:t>
            </a:r>
            <a:endParaRPr lang="en-US" sz="2000" b="1" dirty="0"/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011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8BA713-F34C-0607-D75E-65275A6C6A02}"/>
              </a:ext>
            </a:extLst>
          </p:cNvPr>
          <p:cNvSpPr txBox="1"/>
          <p:nvPr/>
        </p:nvSpPr>
        <p:spPr>
          <a:xfrm>
            <a:off x="2159000" y="10477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BAD9A-D2A7-6B17-4137-B7CF2800254E}"/>
              </a:ext>
            </a:extLst>
          </p:cNvPr>
          <p:cNvSpPr txBox="1"/>
          <p:nvPr/>
        </p:nvSpPr>
        <p:spPr>
          <a:xfrm>
            <a:off x="1867559" y="188403"/>
            <a:ext cx="10852028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                                  </a:t>
            </a:r>
            <a:r>
              <a:rPr lang="en-US" sz="2400" b="1" u="sng" dirty="0">
                <a:ea typeface="+mn-lt"/>
                <a:cs typeface="+mn-lt"/>
              </a:rPr>
              <a:t>KEY DRIVERS &amp; FINAL INSIGHTS</a:t>
            </a:r>
            <a:endParaRPr lang="en-US" sz="2400" b="1" u="sng" dirty="0"/>
          </a:p>
          <a:p>
            <a:endParaRPr lang="en-US"/>
          </a:p>
          <a:p>
            <a:endParaRPr lang="en-US" sz="2000" dirty="0"/>
          </a:p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Top Positive Influencers</a:t>
            </a:r>
            <a:endParaRPr lang="en-US" sz="2400" b="1" dirty="0"/>
          </a:p>
          <a:p>
            <a:r>
              <a:rPr lang="en-US" sz="2000" dirty="0">
                <a:ea typeface="+mn-lt"/>
                <a:cs typeface="+mn-lt"/>
              </a:rPr>
              <a:t>• Type C Stores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Holiday Weeks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Certain Months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Fuel Price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Dept Number</a:t>
            </a:r>
            <a:endParaRPr lang="en-US" sz="2000" dirty="0"/>
          </a:p>
          <a:p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Top Negative Influencers</a:t>
            </a:r>
            <a:endParaRPr lang="en-US" sz="2400" b="1"/>
          </a:p>
          <a:p>
            <a:r>
              <a:rPr lang="en-US" sz="2000" dirty="0">
                <a:ea typeface="+mn-lt"/>
                <a:cs typeface="+mn-lt"/>
              </a:rPr>
              <a:t>• Type B Stores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Unemployment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CPI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• Year (downward trend)</a:t>
            </a:r>
            <a:endParaRPr lang="en-US" sz="2000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4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7C95-6724-6F31-518A-980B76D3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604" y="624110"/>
            <a:ext cx="8911687" cy="128089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6EF49-6035-CE9F-2962-AC66607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628" y="1544128"/>
            <a:ext cx="10238116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• Holidays significantly boost sales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• Store Type C performs best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• Economic factors affect demand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• Sales show seasonal trends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• Insights can guide inventory, marketing &amp; pricing decisions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21106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Retail Sales Insights &amp; Demand Forecasting   </vt:lpstr>
      <vt:lpstr>Objective:  • Analyze Walmart’s retail sales data • Identify key patterns and drivers of weekly sales • Build a predictive model to estimate sales • Provide business insights and recommendations  Business Importance:  Better understanding of sales patterns helps optimize: • Inventory • Marketing • Promotions • Store planning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299</cp:revision>
  <dcterms:created xsi:type="dcterms:W3CDTF">2025-11-22T07:19:37Z</dcterms:created>
  <dcterms:modified xsi:type="dcterms:W3CDTF">2025-11-30T16:36:16Z</dcterms:modified>
</cp:coreProperties>
</file>